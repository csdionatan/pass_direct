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6707" autoAdjust="0"/>
  </p:normalViewPr>
  <p:slideViewPr>
    <p:cSldViewPr snapToGrid="0" snapToObjects="1">
      <p:cViewPr varScale="1">
        <p:scale>
          <a:sx n="97" d="100"/>
          <a:sy n="97" d="100"/>
        </p:scale>
        <p:origin x="12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8899AA"/>
                </a:solidFill>
                <a:latin typeface="Arial"/>
              </a:defRPr>
            </a:pPr>
            <a:r>
              <a:rPr lang="pt-BR" sz="950" b="0" i="0" u="none" strike="noStrike">
                <a:solidFill>
                  <a:srgbClr val="8899AA"/>
                </a:solidFill>
                <a:latin typeface="Arial"/>
              </a:rPr>
              <a:t>Probabilidade de Riscos de Cauda para CPI e PIB (2025) — Kalshi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P(CPI 2025 &gt; 3%)</c:v>
                </c:pt>
              </c:strCache>
            </c:strRef>
          </c:tx>
          <c:spPr>
            <a:ln w="3556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Fev</c:v>
                </c:pt>
                <c:pt idx="1">
                  <c:v>Mar</c:v>
                </c:pt>
                <c:pt idx="2">
                  <c:v>Abr</c:v>
                </c:pt>
                <c:pt idx="3">
                  <c:v>Mai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42</c:v>
                </c:pt>
                <c:pt idx="2">
                  <c:v>62</c:v>
                </c:pt>
                <c:pt idx="3">
                  <c:v>58</c:v>
                </c:pt>
                <c:pt idx="4">
                  <c:v>48</c:v>
                </c:pt>
                <c:pt idx="5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AC-4B39-B4FA-3D7B062970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P(PIB 2025 &lt; 1,5%)</c:v>
                </c:pt>
              </c:strCache>
            </c:strRef>
          </c:tx>
          <c:spPr>
            <a:ln w="35560" cap="flat">
              <a:solidFill>
                <a:srgbClr val="4A90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90C4"/>
              </a:solidFill>
              <a:ln w="9525" cap="flat">
                <a:solidFill>
                  <a:srgbClr val="4A90C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Fev</c:v>
                </c:pt>
                <c:pt idx="1">
                  <c:v>Mar</c:v>
                </c:pt>
                <c:pt idx="2">
                  <c:v>Abr</c:v>
                </c:pt>
                <c:pt idx="3">
                  <c:v>Mai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</c:v>
                </c:pt>
                <c:pt idx="1">
                  <c:v>22</c:v>
                </c:pt>
                <c:pt idx="2">
                  <c:v>55</c:v>
                </c:pt>
                <c:pt idx="3">
                  <c:v>45</c:v>
                </c:pt>
                <c:pt idx="4">
                  <c:v>35</c:v>
                </c:pt>
                <c:pt idx="5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AC-4B39-B4FA-3D7B06297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99AA"/>
                </a:solidFill>
                <a:latin typeface="Arial"/>
              </a:defRPr>
            </a:pPr>
            <a:r>
              <a:rPr lang="pt-BR" sz="1000" b="0" i="0" u="none" strike="noStrike">
                <a:solidFill>
                  <a:srgbClr val="8899AA"/>
                </a:solidFill>
                <a:latin typeface="Arial"/>
              </a:rPr>
              <a:t>Resposta da Média da FFR a Surpresas de CPI (% pts)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Variação na Média da FFR (bps)</c:v>
                </c:pt>
              </c:strCache>
            </c:strRef>
          </c:tx>
          <c:spPr>
            <a:solidFill>
              <a:srgbClr val="4A90C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90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116-4583-A456-83BB100D19E5}"/>
              </c:ext>
            </c:extLst>
          </c:dPt>
          <c:dPt>
            <c:idx val="1"/>
            <c:invertIfNegative val="0"/>
            <c:bubble3D val="0"/>
            <c:spPr>
              <a:solidFill>
                <a:srgbClr val="8899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16-4583-A456-83BB100D19E5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16-4583-A456-83BB100D19E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Surpresa
Negativa</c:v>
                </c:pt>
                <c:pt idx="1">
                  <c:v>Sem
Surpresa</c:v>
                </c:pt>
                <c:pt idx="2">
                  <c:v>Surpresa
Positiva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-0.5</c:v>
                </c:pt>
                <c:pt idx="1">
                  <c:v>0.7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116-4583-A456-83BB100D19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82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1 (TÍTULO)
Bom dia / boa tarde a todos.
O paper que vou apresentar hoje foi produzido por pesquisadores do Federal Reserve Board, da Northwestern University e da Johns Hopkins University, e publicado como Working Paper no Finance and Economics Discussion Series do Fed.
O título — "Kalshi and the Rise of Macro Markets" — captura um fenômeno emergente que ainda é pouco explorado na literatura de macro-finanças: o uso de mercados preditivos regulados como fonte de expectativas macroeconômicas em tempo real.
Nos próximos [X] minutos, vou guiá-los pelos principais problemas que o paper endereça, pela metodologia, pelos resultados — e vou provocá-los a pensar nas implicações disso para a análise de política monetária.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2 (MOTIVAÇÃO)
A grande questão que motiva o paper pode ser colocada assim: como o Fed sabe o que o mercado está esperando, e com que precisão?
As ferramentas existentes têm problemas complementares:
Os surveys — como o Survey of Market Expectations do FRBNY — são valiosos, mas são tirados a cada 6 semanas, não respondem em tempo real a dados de CPI que saem hoje de manhã, e oferecem apenas a mediana ou moda das expectativas. Você perde toda a distribuição.
Os futuros de Fed Funds resolvem parte do problema de frequência, mas têm uma limitação estrutural enorme: ao converter o preço em probabilidades, você é forçado a assumir que existem apenas dois resultados possíveis — subir ou manter. Isso é evidentemente uma simplificação perigosa em períodos de alta incerteza.
SOFR options existem, têm mais conteúdo distribucional, mas o contrato é sobre a taxa repo média trimestral — não sobre a decisão do FOMC em uma reunião específica. E com o spread SOFR-EFFR crescendo em função do QT, a calibração fica comprometida.
A promessa dos mercados preditivos é resolver simultaneamente esses três problemas.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3 (QUESTÕES DE PESQUISA)
O paper se organiza em torno de três grandes perguntas, progressivamente mais profundas.
A primeira é a pergunta básica de validação: a Kalshi prevê bem? Os autores comparam com o Survey of Market Expectations do Fed de NY e com o Bloomberg Consensus — usando Mean Absolute Error e testes Diebold-Mariano para significância estatística.
A segunda pergunta é sobre valor único: a Kalshi vai além do que outros instrumentos fazem, especialmente para variáveis onde não existe mercado financeiro disponível — como PIB e Core CPI.
A terceira pergunta é a mais nova e analiticamente mais rica: como a distribuição COMPLETA — não apenas a média, mas variância e assimetria — responde a notícias? Isso só é possível com dados da Kalshi.
Isso não é possível com futuros (que dão apenas médias), nem com surveys (que são tirados uma vez a cada 6 semanas).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4 (COMO FUNCIONA)
Antes de entrar nos resultados, deixa eu explicar o mecanismo.
A Kalshi é a maior plataforma de mercados preditivos regulada pelos EUA, aprovada pelo CFTC — a mesma categoria regulatória da Chicago Mercantile Exchange. Isso é importante: diferente do Polymarket, que opera em zona cinza regulatória, a Kalshi tem supervisão formal.
O contrato básico é simples: você compra "Sim" ou "Não" sobre se determinado resultado vai ocorrer. Por exemplo: "O CPI de março vai superar 2,5% a.a.?" Se superar, o comprador do "Sim" recebe $1.
O genial é que, com uma série de contratos com diferentes strikes para o mesmo evento — digamos, "acima de 3,75%", "acima de 4,0%", "acima de 4,25%", etc. — você pode construir uma função densidade de probabilidade completa sobre os resultados possíveis.
A metodologia é model-free: preço do "Sim" = probabilidade implícita. A diferença entre strikes adjacentes dá a probabilidade de cada intervalo. Os autores impõem monotonicidade da CDF (construindo de dentro para fora, a partir da moda) para evitar que preços stale nas caudas contaminem a distribuição toda.
Resultado: uma PDF atualizada diariamente (e potencialmente intraday) de alta frequência para cada variável.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5 (DADOS E METODOLOGIA)
Os autores trabalham com dados de nível de trade da Kalshi — cada transação individual — para 13 categorias de mercados macroeconômicos. O ponto de início varia: o contrato de CPI MoM começou em junho de 2021; o de Fed Funds Decision começou em maio de 2023.
Para avaliação de previsão, eles comparam com 5 benchmarks distintos, cobrindo tanto surveys quanto instrumentos de mercado.
Três classes de testes são aplicadas:
Primeiro, métricas de erro preditivo clássicas (MAE e RMSE), calculadas dia a dia desde 160 dias antes até o dia do evento, para ver como a precisão evolui com a proximidade do release.
Segundo, o teste Diebold-Mariano, que permite fazer afirmações de significância estatística sobre a diferença de erros — não apenas dizer "a Kalshi errou menos", mas "ela errou estatisticamente menos ao nível de 5%."
Terceiro, o Probability Integral Transform: se a PDF da Kalshi fosse a distribuição física real dos resultados, a CDF avaliada nos valores realizados deveria ser uniforme. Desvios da uniformidade revelam prêmios de risco ou má calibração.
Por fim, regressões de event-study para quantificar o efeito de surpresas de CPI, PCE, payrolls e de choques de política monetária sobre os momentos da distribuição.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6 (RESULTADO #1 — DESEMPENHO PREDITIVO)
O primeiro resultado é sobre precisão preditiva pura.
O gráfico mostra a evolução do erro absoluto médio (MAE) para a taxa de Fed Funds, do dia 160 até o dia 0 de cada reunião do FOMC, desde 2022. A mensagem é clara: conforme a reunião se aproxima, o erro cai — como esperado para qualquer instrumento. A Kalshi segue esse padrão, com performance comparável ao Survey of Market Expectations.
Mas o dado mais impactante está na tabela à direita: a moda e a mediana da distribuição Kalshi têm MAE = 0.000 no dia da reunião do FOMC. Estatisticamente significativo ao nível de 5% em comparação com os futuros de Fed Funds.
O que aconteceu? Em setembro de 2024, havia probabilidade em dois resultados — corte de 25 ou 50 bps. A Kalshi colocou maior peso nos 50 bps, que foi o resultado realizado. O survey e os futuros erraram; a moda da Kalshi acertou.
Para CPI headline, a Kalshi também supera o Bloomberg Consensus — com MAE de 6,3 vs 8,1 bps, diferença estatisticamente significativa.
Para Core CPI e desemprego, a diferença não é estatisticamente significativa — ou seja, performance equivalente, não pior.
A conclusão é: a Kalshi é ao menos tão boa quanto os melhores benchmarks existentes, e em alguns casos significativamente melhor.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7 (RESULTADO #2 — RIQUEZA DISTRIBUCIONAL)
O segundo grande resultado é sobre valor único — o que a Kalshi oferece que simplesmente não existe em outro lugar.
A tabela deixa isso claro de forma sistemática. Nenhum instrumento de mercado, antes da Kalshi, fornecia simultaneamente: especificidade por reunião do FOMC, distribuição completa, cobertura de PIB/Core CPI/Desemprego, e alta frequência.
Os autores mostram isso também de forma empírica comparando com SOFR Options. Em Q4 2025, a distribuição de SOFR options apontava como resultado modal a manutenção de taxas — enquanto tanto a Kalshi quanto os futuros apontavam para um corte de 25 bps. A razão: o spread SOFR-EFFR estava em torno de 6 bps na época. Isso parece pequeno, mas tem impacto enorme nas probabilidades implícitas — deslocando artificialmente a moda para cima.
Como a Kalshi é diretamente indexada à taxa de Fed Funds, não sofre desse problema. Os autores argumentam que ela é, portanto, a melhor estimativa de densidade disponível para a taxa de juros.
Para investidores e formuladores de política: isso significa que olhar o SOFR para inferir probabilidades de política monetária pode levar a conclusões enganosas.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8 (EVIDÊNCIAS VISUAIS)
Esse slide ilustra um dos casos mais concretos da utilidade prática da Kalshi para a análise de política.
Em abril de 2025, com os anúncios de política comercial (tarifas), os mercados Kalshi mostraram em tempo real um spike acentuado na probabilidade de estagflação: a chance de CPI acima de 3% em 2025 subiu de cerca de 40% para 62%; a chance de PIB abaixo de 1,5% subiu de 20% para 55%.
Pergunto a vocês: quanto tempo levaria para isso aparecer em um survey? Semanas. Com a Kalshi, o Fed poderia ver essa deterioração de expectativas no mesmo dia dos anúncios.
Igualmente importante é a reversão: quando notícias de alívio comercial começaram a circular em maio e junho, as probabilidades recuaram. Essa dinâmica de subida e recuo é completamente invisível em ferramentas de baixa frequência.
Para a política monetária, isso tem implicações claras: em um ambiente de incerteza elevada, o Fed precisa monitorar não apenas o ponto central das expectativas, mas toda a distribuição. A Kalshi oferece exatamente isso, em tempo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9 (RESULTADO #3 — RESPOSTAS ASSIMÉTRICAS)
Esse é, em minha opinião, o resultado mais analiticamente rico do paper — e o que só é possível com dados de distribuição completa.
Os autores estimam regressões de event-study: a variável dependente é a mudança em cada momento da distribuição da FFR — média, mediana, moda, variância, assimetria e curtose — no dia do release de cada notícia.
O primeiro resultado é sobre CPI: uma surpresa de 10 bps eleva a expectativa central de juros em 3 a 4 bps — estatisticamente significativo ao nível de 1%. Isso é esperado.
O resultado inesperado é a assimetria: surpresas positivas de CPI movem a média da FFR aproximadamente 4 vezes mais do que surpresas negativas de mesma magnitude. Em outras palavras, a inflação "cola" — a expectativa de política monetária mais restritiva sobe rápido mas cai lentamente. Isso tem implicações profundas para o design de comunicação do Fed.
Para a variância: em todos os casos — surpresa positiva, negativa ou zero — a variância da distribuição cai. Isso reflete a resolução de incerteza que qualquer release produz. Mas o efeito é maior quando não há surpresa, sugerindo que a certeza de que as expectativas foram validadas também contribui para reduzir a dispersão.
Para os choques de política monetária: o comunicado do FOMC eleva média e variância — o mercado atualiza o nível esperado mas também fica mais incerto sobre a trajetória futura. Já a coletiva de imprensa tem efeito nulo na média mas reduz significativamente a assimetria — interpretado pelos autores como o Fed sinalizando que o risco de alta para os juros está sendo limitado.
Isso é o tipo de análise que simplesmente não é possível com futuros ou surveys.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93226-9A61-2B10-6E9D-871A02DA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C96AF-3622-DDD7-AA52-937949EDC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086C05-8F85-8AA7-61D4-2EFD91510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9 (RESULTADO #3 — RESPOSTAS ASSIMÉTRICAS)
Esse é, em minha opinião, o resultado mais analiticamente rico do paper — e o que só é possível com dados de distribuição completa.
Os autores estimam regressões de event-study: a variável dependente é a mudança em cada momento da distribuição da FFR — média, mediana, moda, variância, assimetria e curtose — no dia do release de cada notícia.
O primeiro resultado é sobre CPI: uma surpresa de 10 bps eleva a expectativa central de juros em 3 a 4 bps — estatisticamente significativo ao nível de 1%. Isso é esperado.
O resultado inesperado é a assimetria: surpresas positivas de CPI movem a média da FFR aproximadamente 4 vezes mais do que surpresas negativas de mesma magnitude. Em outras palavras, a inflação "cola" — a expectativa de política monetária mais restritiva sobe rápido mas cai lentamente. Isso tem implicações profundas para o design de comunicação do Fed.
Para a variância: em todos os casos — surpresa positiva, negativa ou zero — a variância da distribuição cai. Isso reflete a resolução de incerteza que qualquer release produz. Mas o efeito é maior quando não há surpresa, sugerindo que a certeza de que as expectativas foram validadas também contribui para reduzir a dispersão.
Para os choques de política monetária: o comunicado do FOMC eleva média e variância — o mercado atualiza o nível esperado mas também fica mais incerto sobre a trajetória futura. Já a coletiva de imprensa tem efeito nulo na média mas reduz significativamente a assimetria — interpretado pelos autores como o Fed sinalizando que o risco de alta para os juros está sendo limitado.
Isso é o tipo de análise que simplesmente não é possível com futuros ou surveys.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01822-4810-F4D9-2ACE-85CE4B9B4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99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10 (IMPLICAÇÕES PARA POLÍTICA)
Quais são as implicações práticas para quem formula e analisa política monetária?
Primeiro: monitoramento em tempo real. O Fed hoje tem que esperar 6 semanas pelo próximo survey para ver o que o mercado está pensando. Com a Kalshi, essa informação está disponível após cada declaração de um dirigente, após cada release de CPI, hora a hora se necessário.
Segundo: riscos de cauda. A probabilidade de estagflação em tempo real — que vimos no slide anterior — é o tipo de informação que pode mudar a calibração de uma decisão de política. Isso não está disponível em nenhum outro instrumento com essa frequência.
Terceiro: função de reação percebida. O fato de que o mercado responde 4 vezes mais a surpresas positivas de CPI do que negativas sugere uma percepção assimétrica de como o Fed vai reagir. Isso é informação valiosa para a comunicação do banco central.
Quarto: a coletiva de imprensa reduz a assimetria — o risco de alta nos juros. Isso é uma medida de eficácia da comunicação de Powell: a coletiva está efetivamente convencendo o mercado de que não haverá mais aperto do que o sinalizado.
Quinto: a perspectiva do varejo. Kalshi agrega um conjunto de participantes diferente de SOFR — menos exposto a incentivos de hedge institucional. Isso pode oferecer um sinal menos distorcido por prêmios de risco sobre as expectativas reais.
E por último: os dados serão públicos, no EconFutures.com, facilitando que outros pesquisadores e analistas também usem essa informação.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11 (LIMITAÇÕES)
Como qualquer instrumento financeiro, a Kalshi tem limitações importantes que os próprios autores reconhecem.
A primeira é a mais fundamental: estamos vendo probabilidades risk-neutral — a medida Q — não probabilidades subjetivas — a medida P. Isso significa que prêmios de risco podem distorcer as probabilidades implícitas. O PIT mostra calibração razoável, mas com alguma evidência de inflação nas caudas de alta inflação e desemprego. Isso não é um defeito exclusivo da Kalshi — é inerente a qualquer instrumento financeiro.
Segundo: as caudas têm problemas de liquidez. Contratos muito fora do dinheiro são negociados com baixa frequência, o que pode resultar em preços stale e estimativas noisy. A estratégia de monotonicidade adotada pelos autores mitiga, mas é uma solução imperfeita.
Terceiro: o período amostral é curto e muito particular. Dois anos de inflação acima do esperado e aperto monetário agressivo dominam a amostra. Os coeficientes de assimetria — a resposta 4x maior a CPI positivo — podem ser especificamente desse regime. Precisamos de mais dados para saber se esse é um padrão estrutural.
Quarto: o investidor de varejo pode introduzir vieses. Behavioral biases bem documentados na literatura — como o favorite-longshot bias — podem afetar os preços. Ao mesmo tempo, como vimos, isso também é uma vantagem analítica: perspectiva diferente da institucional.
Os autores disponibilizarão o código publicamente, o que é importante para permitir que outros pesquisadores repliquem e refinem a metodologia.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12 (CONCLUSÃO)
Para fechar, deixa eu sintetizar as quatro contribuições centrais deste paper.
Primeiro: validação empírica. A Kalshi não é apenas uma curiosidade de mercado — ela performa ao nível de surveys profissionais de alto calibre e, em casos específicos, supera benchmarks estabelecidos com significância estatística.
Segundo: cobertura única. Para PIB, Core CPI, desemprego e payrolls, a Kalshi é a única fonte de distribuições de mercado em tempo real. E para decisões específicas do FOMC, ela é a única opção financeira ativa — preenchendo um vácuo que existe desde que as opções de Fed Funds futures deixaram de ser negociadas em 2008.
Terceiro: análise distribucional de alta frequência. O padrão assimétrico de resposta a CPI e o efeito da coletiva de imprensa na assimetria são descobertas genuinamente novas — possíveis apenas porque a Kalshi fornece a distribuição inteira, atualizada continuamente.
Quarto: acessibilidade. Os autores pretendem disponibilizar os dados no EconFutures.com — o que é um passo importante para democratizar o acesso a essas ferramentas para pesquisadores fora do Fed.
O crescimento da Kalshi — de dez mil contratos por reunião em 2021 para próximo de 100 milhões em 2025 — sugere que a liquidez vai continuar a melhorar. À medida que isso acontece, a utilidade dessa ferramenta para análise de política só tende a aumentar.
Agradeço a atenção. Estou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2C4A72"/>
          </a:solidFill>
          <a:ln w="12700">
            <a:solidFill>
              <a:srgbClr val="2C4A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73152"/>
            <a:ext cx="137160" cy="507034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ECONOMICS DISCUSSION SERIES  ·  2026-010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and the Rise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Macro Markets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5029200" cy="54864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Markets as a New Benchmark for Macroeconomic Expectations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M. Diercks</a:t>
            </a:r>
            <a:r>
              <a:rPr lang="en-US" sz="1200" dirty="0">
                <a:solidFill>
                  <a:srgbClr val="A0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Federal Reserve 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221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Jared Dean Katz</a:t>
            </a:r>
            <a:r>
              <a:rPr lang="en-US" sz="1200" dirty="0">
                <a:solidFill>
                  <a:srgbClr val="A0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Northwestern University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1239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H. Wright</a:t>
            </a:r>
            <a:r>
              <a:rPr lang="en-US" sz="1200" dirty="0">
                <a:solidFill>
                  <a:srgbClr val="A0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Johns Hopkins University &amp; NBER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873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Diercks, Katz &amp; Wright (2026) · Finance and Economics Discussion Series 2026-010 · Federal Reserve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DRAFT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64008" cy="38404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— Por que isso importa?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expectativas é central à política monetária moderna — mas as ferramentas disponíveis têm falhas sérias.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2697480" cy="10972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142646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Surveys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Ficam desatualizados rapidamente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Oferecem apenas estimativas pontuais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Sujeitos a ancoragem e vieses de reputação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Disponíveis com baixa frequência (semanal/mensal)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26187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246120" y="1261872"/>
            <a:ext cx="269748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83280" y="142646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Futuros de Fed Funds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87452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Impõem apenas 2 resultados possíveis (modelo binomial)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fornecem distribuição completa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Opções de FF futures deixaram de ser negociadas após 2008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26187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080760" y="1261872"/>
            <a:ext cx="2697480" cy="10972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17920" y="142646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SOFR Options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87452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sobre taxa repo — spread variável com EFFR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trimestral: difícil mapear reuniões específicas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crescente com QT compromete a calibração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572000"/>
            <a:ext cx="8321040" cy="201168"/>
          </a:xfrm>
          <a:prstGeom prst="rect">
            <a:avLst/>
          </a:prstGeom>
          <a:solidFill>
            <a:srgbClr val="D6E8F5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02920" y="458114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Kalshi oferece: alta frequência  ·  distribuição completa  ·  variáveis sem alternativa de mercado (PIB, Core CPI, Desemprego)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de Pesquisa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170432"/>
          </a:xfrm>
          <a:prstGeom prst="rect">
            <a:avLst/>
          </a:prstGeom>
          <a:solidFill>
            <a:srgbClr val="2C4A72"/>
          </a:solidFill>
          <a:ln w="12700">
            <a:solidFill>
              <a:srgbClr val="3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777240" cy="1170432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53312" y="96012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preditiva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280160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contratos da Kalshi produzem previsões calibradas e comparáveis a benchmarks estabelecidos — surveys profissionais e instrumentos derivativos — para taxa de juros, CPI e desemprego?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8229600" cy="1170432"/>
          </a:xfrm>
          <a:prstGeom prst="rect">
            <a:avLst/>
          </a:prstGeom>
          <a:solidFill>
            <a:srgbClr val="2C4A72"/>
          </a:solidFill>
          <a:ln w="12700">
            <a:solidFill>
              <a:srgbClr val="3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777240" cy="1170432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53312" y="2267712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Riqueza distribucional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587752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Kalshi preenche lacunas deixadas por outros instrumentos, fornecendo distribuições completas para variáveis como PIB, Core CPI e desemprego — até hoje sem mercado ativo?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83864"/>
            <a:ext cx="8229600" cy="1170432"/>
          </a:xfrm>
          <a:prstGeom prst="rect">
            <a:avLst/>
          </a:prstGeom>
          <a:solidFill>
            <a:srgbClr val="2C4A72"/>
          </a:solidFill>
          <a:ln w="12700">
            <a:solidFill>
              <a:srgbClr val="3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777240" cy="1170432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377647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53312" y="357530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intraday e resposta a notícias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895344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distribuição implícita da taxa de juros — média, variância e assimetria — responde a surpresas macroeconômicas e a choques de política monetária em tempo real?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873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Diercks, Katz &amp; Wright (2026) · Finance and Economics Discussion Series 2026-010 · Federal Reserve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DRAFT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64008" cy="38404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Preditivos — Como a Kalshi Funciona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77724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896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contrato Kalshi?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749040" cy="804672"/>
          </a:xfrm>
          <a:prstGeom prst="rect">
            <a:avLst/>
          </a:prstGeom>
          <a:solidFill>
            <a:srgbClr val="D6E8F5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35331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Arrow-Debreu binário: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$1 se o evento ocorrer,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caso contrário.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2128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Regulado pelo CFTC: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597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status que Chicago Mercantile Exchange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779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Market makers: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266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Susquehanna; acessível via Robinhood e Webull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33467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Exposição máxima: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5935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 milhões por mercado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9136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Volume recorde: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de US$ 100 mi na reunião set/2025 do FOMC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77724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00600" y="8961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preços para distribuições de probabilidade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3168" y="1362456"/>
            <a:ext cx="347472" cy="347472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73168" y="1362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93792" y="13258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do 'Yes' = P(evento)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93792" y="16184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 $0.40 → 40% de chance do resultado ocorrer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3168" y="2167128"/>
            <a:ext cx="347472" cy="347472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73168" y="2167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93792" y="2130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entre strikes → PDF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93792" y="242316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P(FFR entre 4.0–4.25%) = P(&gt;4.0%) − P(&gt;4.25%) = 40%−22% = 18%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3168" y="2971800"/>
            <a:ext cx="347472" cy="347472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773168" y="2971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29352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Monotonicidade da CDF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93792" y="322783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outward a partir da moda evita preços stale nas caudas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73168" y="3776472"/>
            <a:ext cx="347472" cy="347472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773168" y="3776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93792" y="37398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implícitos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93792" y="403250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Média, mediana, moda, variância e assimetria extraídos diretamente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873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Diercks, Katz &amp; Wright (2026) · Finance and Economics Discussion Series 2026-010 · Federal Reserve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DRAFT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64008" cy="38404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Metodologia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amostral: 2021–2025  ·  Dados intraday de trades + bid-ask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11480" y="1143000"/>
            <a:ext cx="40690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16128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Kalshi analisados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6093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(MoM/YoY/Anual)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60934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883664"/>
            <a:ext cx="4069080" cy="329184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30352" y="1938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CPI (MoM/YoY/Anual)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193852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2677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226771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542032"/>
            <a:ext cx="4069080" cy="329184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30352" y="259689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Desemprego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5968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29260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292608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4069080" cy="329184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30352" y="32552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(trimestral/anual)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91840" y="32552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0352" y="35844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 Recessão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358444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858768"/>
            <a:ext cx="4069080" cy="329184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30352" y="39136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Rate (por reunião)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91840" y="391363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Monetária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14300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73168" y="12435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comparados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15727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Survey of Market Expectations (FRBNY)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17922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Bloomberg Consensus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20116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Fed Funds Futures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223113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SOFR Options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24505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Blue Chip Economic Indicators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78892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773168" y="28895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métricas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2552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MAE / RMSE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19472" y="3465576"/>
            <a:ext cx="3630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preditivo por horizonte temporal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6484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Diebold-Mariano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9472" y="3858768"/>
            <a:ext cx="3630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Significância estatística das diferenças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40416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Probability Integral Transform (PIT)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19472" y="4251960"/>
            <a:ext cx="3630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das PDFs vs. distribuição física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0600" y="44348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Event-study regressions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19472" y="4645152"/>
            <a:ext cx="3630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de surpresas e choques de política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873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Diercks, Katz &amp; Wright (2026) · Finance and Economics Discussion Series 2026-010 · Federal Reserve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DRAFT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64008" cy="38404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#1 — Desempenho Preditivo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83210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7955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moda da Kalshi para a taxa de Fed Funds teve erro absoluto zero no dia de cada reunião do FOMC desde 2022 — melhoria estatisticamente significativa sobre fed funds futures e surveys.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1417320"/>
            <a:ext cx="2926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925312" y="15087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Resultados-chave (Tabela 3 do paper)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1993392"/>
            <a:ext cx="2834640" cy="320040"/>
          </a:xfrm>
          <a:prstGeom prst="rect">
            <a:avLst/>
          </a:prstGeom>
          <a:solidFill>
            <a:srgbClr val="E8F5EE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943600" y="204825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Moda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635240" y="20482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7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0.000**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52160" y="2350008"/>
            <a:ext cx="2834640" cy="320040"/>
          </a:xfrm>
          <a:prstGeom prst="rect">
            <a:avLst/>
          </a:prstGeom>
          <a:solidFill>
            <a:srgbClr val="E8F5EE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943600" y="240487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Mediana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635240" y="24048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7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0.000**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852160" y="2706624"/>
            <a:ext cx="2834640" cy="320040"/>
          </a:xfrm>
          <a:prstGeom prst="rect">
            <a:avLst/>
          </a:prstGeom>
          <a:solidFill>
            <a:srgbClr val="FDF0EE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943600" y="276148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Futures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635240" y="27614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0.010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852160" y="3063240"/>
            <a:ext cx="2834640" cy="320040"/>
          </a:xfrm>
          <a:prstGeom prst="rect">
            <a:avLst/>
          </a:prstGeom>
          <a:solidFill>
            <a:srgbClr val="E8F5EE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943600" y="311810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Headline Moda </a:t>
            </a:r>
            <a:r>
              <a:rPr lang="en-US" sz="8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Mediana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635240" y="31181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7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0.063*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52160" y="3419856"/>
            <a:ext cx="2834640" cy="320040"/>
          </a:xfrm>
          <a:prstGeom prst="rect">
            <a:avLst/>
          </a:prstGeom>
          <a:solidFill>
            <a:srgbClr val="FDF0EE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5943600" y="347472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CPI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635240" y="34747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0.081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852160" y="3776472"/>
            <a:ext cx="28346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943600" y="383133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CPI Kalshi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635240" y="38313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Bloomberg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852160" y="4133088"/>
            <a:ext cx="28346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5943600" y="418795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Desemprego Kalshi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35240" y="418795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Bloomberg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852160" y="446227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p&lt;0.10  ** p&lt;0.05  (teste Diebold-Mariano)</a:t>
            </a:r>
            <a:endParaRPr lang="en-US" sz="750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28866518-FDC4-DB59-0736-27653CB97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5217008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873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Diercks, Katz &amp; Wright (2026) · Finance and Economics Discussion Series 2026-010 · Federal Reserve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DRAFT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64008" cy="38404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#2 — Riqueza Distribucional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Kalshi é o ÚNICO instrumento financeiro ativo que provê distribuições completas para reuniões específicas do FOMC e para variáveis sem mercado equivalente.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83210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1887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Futures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81728" y="11887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Options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80176" y="11887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78624" y="11887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536192"/>
            <a:ext cx="8321040" cy="530352"/>
          </a:xfrm>
          <a:prstGeom prst="rect">
            <a:avLst/>
          </a:prstGeom>
          <a:solidFill>
            <a:srgbClr val="F0F5FA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0352" y="16733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 por reunião FOMC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64592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81728" y="164592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80176" y="164592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78624" y="164592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1480" y="2066544"/>
            <a:ext cx="8321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30352" y="22037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completa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17627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81728" y="217627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7A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80176" y="217627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78624" y="217627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1480" y="2596896"/>
            <a:ext cx="8321040" cy="530352"/>
          </a:xfrm>
          <a:prstGeom prst="rect">
            <a:avLst/>
          </a:prstGeom>
          <a:solidFill>
            <a:srgbClr val="F0F5FA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30352" y="27340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/ Core CPI / Desemprego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70662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81728" y="270662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80176" y="270662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78624" y="270662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1480" y="3127248"/>
            <a:ext cx="8321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30352" y="32644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frequência / tempo real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323697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7A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81728" y="323697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7A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80176" y="323697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78624" y="323697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11480" y="3657600"/>
            <a:ext cx="8321040" cy="530352"/>
          </a:xfrm>
          <a:prstGeom prst="rect">
            <a:avLst/>
          </a:prstGeom>
          <a:solidFill>
            <a:srgbClr val="F0F5FA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30352" y="3794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investidor de varejo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83280" y="376732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81728" y="376732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80176" y="376732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78624" y="376732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278624" y="1170432"/>
            <a:ext cx="1453896" cy="327355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411480" y="4553712"/>
            <a:ext cx="8321040" cy="246888"/>
          </a:xfrm>
          <a:prstGeom prst="rect">
            <a:avLst/>
          </a:prstGeom>
          <a:solidFill>
            <a:srgbClr val="D6E8F5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530352" y="4562856"/>
            <a:ext cx="8092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SOFR: spread crescente SOFR-EFFR (≈6 bps) implica viés sistemático de alta nas probabilidades implícitas — Kalshi não sofre desse problema.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873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Diercks, Katz &amp; Wright (2026) · Finance and Economics Discussion Series 2026-010 · Federal Reserve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DRAFT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64008" cy="38404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Visual — Riscos de Estagflação em Tempo Real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captura em tempo real o spike de risco de estagflação associado a mudanças de política comercial (início de abril/2025)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170432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1170432"/>
            <a:ext cx="3154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623560" y="1234440"/>
            <a:ext cx="64008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742432" y="12527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de Abril/2025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42432" y="1527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P(CPI &gt; 3%) saltou de ~40% para ~62%. P(PIB &lt; 1,5%) de ~20% para ~55%. Ambos associados a anúncios de política tarifária.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23560" y="2057400"/>
            <a:ext cx="64008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742432" y="2075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observável por surveys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42432" y="23500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Bloomberg Consensus e o Blue Chip capturam apenas a moda, sem série temporal. O pico de risco de cauda seria invisível.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23560" y="2880360"/>
            <a:ext cx="64008" cy="6858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742432" y="28986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Reversão parcial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42432" y="31729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notícias de alívio comercial, ambas as probabilidades recuaram — dinâmica impossível de rastrear em surveys quinzenais.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23560" y="3703320"/>
            <a:ext cx="64008" cy="6858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742432" y="3721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Estagflação severa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42432" y="39959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P(CPI &gt; 4%) e P(PIB &lt; 0%) mostram peso maior na Kalshi do que no SPF — possível reflexo de prêmios de risco do investidor de varejo.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873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Diercks, Katz &amp; Wright (2026) · Finance and Economics Discussion Series 2026-010 · Federal Reserve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DRAFT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64008" cy="38404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#3 — Respostas Assimétricas a Notícias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 err="1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</a:t>
            </a:r>
            <a:r>
              <a:rPr lang="en-US" sz="1050" i="1" dirty="0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50" i="1" dirty="0" err="1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</a:t>
            </a:r>
            <a:r>
              <a:rPr lang="en-US" sz="1050" i="1" dirty="0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1050" i="1" dirty="0" err="1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</a:t>
            </a:r>
            <a:r>
              <a:rPr lang="en-US" sz="1050" i="1" dirty="0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i="1" dirty="0" err="1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</a:t>
            </a:r>
            <a:r>
              <a:rPr lang="en-US" sz="1050" i="1" dirty="0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62856" y="665570"/>
            <a:ext cx="4251960" cy="407167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0" name="Text 7"/>
          <p:cNvSpPr/>
          <p:nvPr/>
        </p:nvSpPr>
        <p:spPr>
          <a:xfrm>
            <a:off x="4663440" y="713217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encontrados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62856" y="1344155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663440" y="1344155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</a:t>
            </a: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Moda de </a:t>
            </a:r>
            <a:r>
              <a:rPr lang="en-US" sz="95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</a:t>
            </a: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63440" y="1600187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gera os maiores efeitos positivos na distribuição da taxa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63440" y="1874507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IPC, NFP E FOMC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maor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centrais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62856" y="2361756"/>
            <a:ext cx="54864" cy="676656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663440" y="236175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</a:t>
            </a:r>
            <a:r>
              <a:rPr lang="en-US" sz="95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b="1" dirty="0" err="1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663440" y="26177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Dias de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reduzem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(FOMC e IPC);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63440" y="28921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NFP e FOMC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elevam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sinalizando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peso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causa superior da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62856" y="3429000"/>
            <a:ext cx="54864" cy="1180871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663440" y="34802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r>
              <a:rPr lang="en-US" sz="95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</a:t>
            </a:r>
            <a:r>
              <a:rPr lang="en-US" sz="95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supresas</a:t>
            </a:r>
            <a:r>
              <a:rPr lang="en-US" sz="95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IPC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663440" y="401420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cenãrios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00016" y="43894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curtose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</a:t>
            </a:r>
            <a:endParaRPr lang="en-US" sz="9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EB6675B-A299-0680-AA26-1760F343F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3658"/>
            <a:ext cx="3875725" cy="28990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FE1883FD-CCDF-844E-6BFE-D10092CC94B7}"/>
              </a:ext>
            </a:extLst>
          </p:cNvPr>
          <p:cNvSpPr/>
          <p:nvPr/>
        </p:nvSpPr>
        <p:spPr>
          <a:xfrm>
            <a:off x="4663440" y="3685381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Surpresas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 da </a:t>
            </a:r>
            <a:r>
              <a:rPr lang="en-US" sz="9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900" dirty="0"/>
          </a:p>
        </p:txBody>
      </p:sp>
      <p:pic>
        <p:nvPicPr>
          <p:cNvPr id="29" name="Gráfico 28" descr="Selo Tick1 com preenchimento sólido">
            <a:extLst>
              <a:ext uri="{FF2B5EF4-FFF2-40B4-BE49-F238E27FC236}">
                <a16:creationId xmlns:a16="http://schemas.microsoft.com/office/drawing/2014/main" id="{7E78614F-D242-EFAA-E77B-DEAEE8F41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5320" y="-9929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21755-599A-CCB4-12E0-AD46CD0B7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AA2EE7-FDEE-0602-89F6-2953B133127C}"/>
              </a:ext>
            </a:extLst>
          </p:cNvPr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92E0C5-78E3-5F39-266D-B8B6E83B859F}"/>
              </a:ext>
            </a:extLst>
          </p:cNvPr>
          <p:cNvSpPr/>
          <p:nvPr/>
        </p:nvSpPr>
        <p:spPr>
          <a:xfrm>
            <a:off x="365760" y="4873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Diercks, Katz &amp; Wright (2026) · Finance and Economics Discussion Series 2026-010 · Federal Reserve Board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A47866-E5FA-D8B9-0BD0-913418239E18}"/>
              </a:ext>
            </a:extLst>
          </p:cNvPr>
          <p:cNvSpPr/>
          <p:nvPr/>
        </p:nvSpPr>
        <p:spPr>
          <a:xfrm>
            <a:off x="694944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DRAFT</a:t>
            </a: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630AD47-81D6-B8C6-6DEE-247A8B85A5F8}"/>
              </a:ext>
            </a:extLst>
          </p:cNvPr>
          <p:cNvSpPr/>
          <p:nvPr/>
        </p:nvSpPr>
        <p:spPr>
          <a:xfrm>
            <a:off x="411480" y="201168"/>
            <a:ext cx="64008" cy="38404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F3411E-E5E1-F922-4847-1B8A60D10339}"/>
              </a:ext>
            </a:extLst>
          </p:cNvPr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#3 — Respostas Assimétricas a Notícias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98E12EC-18E8-2F24-25F5-2CA844B1EC59}"/>
              </a:ext>
            </a:extLst>
          </p:cNvPr>
          <p:cNvSpPr/>
          <p:nvPr/>
        </p:nvSpPr>
        <p:spPr>
          <a:xfrm>
            <a:off x="228600" y="63093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positivo move a expectativa de juros 4× mais do que CPI negativo. Pressão de alta é mais difícil de reverter.</a:t>
            </a:r>
            <a:endParaRPr lang="en-US" sz="105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E2BA97F7-BC0A-6FCB-2BE5-E676E9DA8702}"/>
              </a:ext>
            </a:extLst>
          </p:cNvPr>
          <p:cNvGraphicFramePr/>
          <p:nvPr/>
        </p:nvGraphicFramePr>
        <p:xfrm>
          <a:off x="411480" y="1143000"/>
          <a:ext cx="3931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21F72EE9-0B9B-CC28-D7C9-C804D2EEF020}"/>
              </a:ext>
            </a:extLst>
          </p:cNvPr>
          <p:cNvSpPr/>
          <p:nvPr/>
        </p:nvSpPr>
        <p:spPr>
          <a:xfrm>
            <a:off x="4526280" y="987552"/>
            <a:ext cx="4251960" cy="365107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088A1FB-0643-6CBF-17B1-4234947904DF}"/>
              </a:ext>
            </a:extLst>
          </p:cNvPr>
          <p:cNvSpPr/>
          <p:nvPr/>
        </p:nvSpPr>
        <p:spPr>
          <a:xfrm>
            <a:off x="4686300" y="9366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das regressões de event-study</a:t>
            </a:r>
            <a:endParaRPr lang="en-US" sz="11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768F73C-A00E-8C44-9BC7-3D20FDBDEE83}"/>
              </a:ext>
            </a:extLst>
          </p:cNvPr>
          <p:cNvSpPr/>
          <p:nvPr/>
        </p:nvSpPr>
        <p:spPr>
          <a:xfrm>
            <a:off x="4562856" y="1226601"/>
            <a:ext cx="54864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F7224EF-735F-26BB-3A8A-8FBEF710EB28}"/>
              </a:ext>
            </a:extLst>
          </p:cNvPr>
          <p:cNvSpPr/>
          <p:nvPr/>
        </p:nvSpPr>
        <p:spPr>
          <a:xfrm>
            <a:off x="4663440" y="1226601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SURPRESAS DE CPI</a:t>
            </a:r>
            <a:endParaRPr lang="en-US" sz="9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AB87D43-BC52-8C06-4804-019E23510ABB}"/>
              </a:ext>
            </a:extLst>
          </p:cNvPr>
          <p:cNvSpPr/>
          <p:nvPr/>
        </p:nvSpPr>
        <p:spPr>
          <a:xfrm>
            <a:off x="4663440" y="1482633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Coeficiente: 10 bps de surpresa → +3 a 4 bps na média da FFR (***)</a:t>
            </a:r>
            <a:endParaRPr lang="en-US" sz="9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7BF8821-A715-3CFA-8713-563F54F9784D}"/>
              </a:ext>
            </a:extLst>
          </p:cNvPr>
          <p:cNvSpPr/>
          <p:nvPr/>
        </p:nvSpPr>
        <p:spPr>
          <a:xfrm>
            <a:off x="4663440" y="1756953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Assimetria: positivo eleva 4× mais que negativo abaixa</a:t>
            </a:r>
            <a:endParaRPr lang="en-US" sz="9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CE007F9-3BDD-02FE-6C90-7444AE50B24B}"/>
              </a:ext>
            </a:extLst>
          </p:cNvPr>
          <p:cNvSpPr/>
          <p:nvPr/>
        </p:nvSpPr>
        <p:spPr>
          <a:xfrm>
            <a:off x="4663440" y="2031273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Variância: cai em todos os casos (mais no zero-surpresa)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D9BE5A7-8FE1-3EF6-318E-071B4305719B}"/>
              </a:ext>
            </a:extLst>
          </p:cNvPr>
          <p:cNvSpPr/>
          <p:nvPr/>
        </p:nvSpPr>
        <p:spPr>
          <a:xfrm>
            <a:off x="4663440" y="2305593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Kurtosis: sobe independente do sinal da surpresa</a:t>
            </a:r>
            <a:endParaRPr lang="en-US" sz="9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BD6169C-0B08-CBAD-CB8F-91D0D2549159}"/>
              </a:ext>
            </a:extLst>
          </p:cNvPr>
          <p:cNvSpPr/>
          <p:nvPr/>
        </p:nvSpPr>
        <p:spPr>
          <a:xfrm>
            <a:off x="4562856" y="2616501"/>
            <a:ext cx="54864" cy="676656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97954B2-7187-12C7-FC23-3DA84E2E2927}"/>
              </a:ext>
            </a:extLst>
          </p:cNvPr>
          <p:cNvSpPr/>
          <p:nvPr/>
        </p:nvSpPr>
        <p:spPr>
          <a:xfrm>
            <a:off x="4663440" y="2616501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SURPRESAS DE PCE</a:t>
            </a:r>
            <a:endParaRPr lang="en-US" sz="9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30B8F28-5FA4-8999-FCE6-A36F89787983}"/>
              </a:ext>
            </a:extLst>
          </p:cNvPr>
          <p:cNvSpPr/>
          <p:nvPr/>
        </p:nvSpPr>
        <p:spPr>
          <a:xfrm>
            <a:off x="4663440" y="2872533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Efeito significativo, mas muito menor que CPI (*)  </a:t>
            </a:r>
            <a:endParaRPr lang="en-US" sz="9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F7FCBB7-7106-527A-FCF3-54F4DD232D2F}"/>
              </a:ext>
            </a:extLst>
          </p:cNvPr>
          <p:cNvSpPr/>
          <p:nvPr/>
        </p:nvSpPr>
        <p:spPr>
          <a:xfrm>
            <a:off x="4663440" y="3146853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CPI é mais tempestivo → maior peso no processo de formação de expectativas</a:t>
            </a:r>
            <a:endParaRPr lang="en-US" sz="9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AE71B94-D119-93ED-2C28-BC76CC87B1A7}"/>
              </a:ext>
            </a:extLst>
          </p:cNvPr>
          <p:cNvSpPr/>
          <p:nvPr/>
        </p:nvSpPr>
        <p:spPr>
          <a:xfrm>
            <a:off x="4562856" y="3444672"/>
            <a:ext cx="54864" cy="969264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03C3668-3FFA-3453-798F-7E6E33D78420}"/>
              </a:ext>
            </a:extLst>
          </p:cNvPr>
          <p:cNvSpPr/>
          <p:nvPr/>
        </p:nvSpPr>
        <p:spPr>
          <a:xfrm>
            <a:off x="4663440" y="3444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CHOQUES FOMC — COMUNICADO vs. COLETIVA</a:t>
            </a:r>
            <a:endParaRPr lang="en-US" sz="9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7E5EE3F-F629-060C-CD82-41FD65401EB3}"/>
              </a:ext>
            </a:extLst>
          </p:cNvPr>
          <p:cNvSpPr/>
          <p:nvPr/>
        </p:nvSpPr>
        <p:spPr>
          <a:xfrm>
            <a:off x="4663440" y="37007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Comunicado: eleva média e variância da FFR (***)</a:t>
            </a:r>
            <a:endParaRPr lang="en-US" sz="9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6EBE806-629F-0344-0959-2B98F5E89D22}"/>
              </a:ext>
            </a:extLst>
          </p:cNvPr>
          <p:cNvSpPr/>
          <p:nvPr/>
        </p:nvSpPr>
        <p:spPr>
          <a:xfrm>
            <a:off x="4663440" y="39750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Coletiva: efeito nulo na média, mas REDUZ skewness significativamente (**)</a:t>
            </a:r>
            <a:endParaRPr lang="en-US" sz="9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9EB90B7-F364-175C-521C-7F411D570E5A}"/>
              </a:ext>
            </a:extLst>
          </p:cNvPr>
          <p:cNvSpPr/>
          <p:nvPr/>
        </p:nvSpPr>
        <p:spPr>
          <a:xfrm>
            <a:off x="4663440" y="42493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Interpretação: coletiva resolve incerteza de ALTA nos juros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51517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para Política Monetária e Mercados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4114800" cy="1207008"/>
          </a:xfrm>
          <a:prstGeom prst="rect">
            <a:avLst/>
          </a:prstGeom>
          <a:solidFill>
            <a:srgbClr val="2C4A72"/>
          </a:solidFill>
          <a:ln w="12700">
            <a:solidFill>
              <a:srgbClr val="3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Monitoramento em tempo real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527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Fed pode rastrear continuamente as expectativas de mercado sobre suas próprias decisões — incluindo mudanças intraday após declarações de dirigentes — sem esperar pelo próximo survey.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14800" cy="1207008"/>
          </a:xfrm>
          <a:prstGeom prst="rect">
            <a:avLst/>
          </a:prstGeom>
          <a:solidFill>
            <a:srgbClr val="2C4A72"/>
          </a:solidFill>
          <a:ln w="12700">
            <a:solidFill>
              <a:srgbClr val="3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89204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Leitura de riscos de cauda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2527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 completas permitem monitorar probabilidades de estagflação, deflação e outros cenários extremos — invisíveis em medidas de ponto central.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4114800" cy="1207008"/>
          </a:xfrm>
          <a:prstGeom prst="rect">
            <a:avLst/>
          </a:prstGeom>
          <a:solidFill>
            <a:srgbClr val="2C4A72"/>
          </a:solidFill>
          <a:ln w="12700">
            <a:solidFill>
              <a:srgbClr val="3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Avaliação da função de reação percebida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786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assimetria CPI positivo/negativo sugere que o mercado percebe a política monetária como mais sensível à inflação surpresa que à desinflação surpresa — informação relevante para comunicação do Fed.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148840"/>
            <a:ext cx="4114800" cy="1207008"/>
          </a:xfrm>
          <a:prstGeom prst="rect">
            <a:avLst/>
          </a:prstGeom>
          <a:solidFill>
            <a:srgbClr val="2C4A72"/>
          </a:solidFill>
          <a:ln w="12700">
            <a:solidFill>
              <a:srgbClr val="3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92040" y="2240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Eficácia da comunicação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5786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elevam média e variância; coletivas reduzem assimetria (risco de alta). O Fed pode calibrar qual componente de comunicação está gerando qual tipo de ajuste de expectativas.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74720"/>
            <a:ext cx="4114800" cy="1207008"/>
          </a:xfrm>
          <a:prstGeom prst="rect">
            <a:avLst/>
          </a:prstGeom>
          <a:solidFill>
            <a:srgbClr val="2C4A72"/>
          </a:solidFill>
          <a:ln w="12700">
            <a:solidFill>
              <a:srgbClr val="3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Perspectiva complementar do varejo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0448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agrega o investidor de varejo — menos influenciado por necessidades de hedge institucionais — oferecendo lente complementar ao mercado de SOFR dominado por grandes bancos.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114800" cy="1207008"/>
          </a:xfrm>
          <a:prstGeom prst="rect">
            <a:avLst/>
          </a:prstGeom>
          <a:solidFill>
            <a:srgbClr val="2C4A72"/>
          </a:solidFill>
          <a:ln w="12700">
            <a:solidFill>
              <a:srgbClr val="3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92040" y="3566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Dado público disponível (EconFutures.com)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90448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autores pretendem disponibilizar os dados diários via website interativo — ampliando o acesso de pesquisadores e analistas ao monitoramento de expectativas em tempo real.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873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Diercks, Katz &amp; Wright (2026) · Finance and Economics Discussion Series 2026-010 · Federal Reserve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DRAFT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64008" cy="384048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Caveats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41148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Q vs. Medida 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probabilidades Kalshi são risk-neutral — podem estar distorcidas por prêmios de risco. O PIT mostra calibração razoável, mas há alguma evidência de que probabilidades de alta inflação e desemprego são levemente infladas. A Kalshi não é uma medida direta de probabilidades subjetivas.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91440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006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e caudas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66420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nas caudas da distribuição têm volume baixo e preços potencialmente stale. A estratégia de monotonicidade adotada mitiga, mas não elimina o problema. Esse limitante afeta todos os instrumentos de derivativos — inclusive SOFR options.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8346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4114800" cy="914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curta e dependente do período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1012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período 2022–2025 foi dominado por inflação elevada e ciclo agressivo de aperto monetário. Resultados — especialmente os de assimetria — podem não se generalizar para regimes de baixa inflação. A Kalshi começou apenas em 2021.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114800" cy="91440"/>
          </a:xfrm>
          <a:prstGeom prst="rect">
            <a:avLst/>
          </a:prstGeom>
          <a:solidFill>
            <a:srgbClr val="1E7E5A"/>
          </a:solidFill>
          <a:ln w="12700">
            <a:solidFill>
              <a:srgbClr val="1E7E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0060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Vieses do investidor de varejo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31012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usuários predominantemente de varejo pode introduzir vieses comportamentais diferentes dos presentes no mercado institucional. Ao mesmo tempo, isso é também uma das vantagens: perspectiva complementar ao SOFR dominado por grandes bancos. Mas os dois aspectos coexistem.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480560"/>
            <a:ext cx="8321040" cy="256032"/>
          </a:xfrm>
          <a:prstGeom prst="rect">
            <a:avLst/>
          </a:prstGeom>
          <a:solidFill>
            <a:srgbClr val="D6E8F5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30352" y="4498848"/>
            <a:ext cx="8092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autores reconhecem explicitamente essas limitações — e disponibilizarão código público para permitir replicação e aprimoramento da metodologia por outros pesquisadores.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685800"/>
          </a:xfrm>
          <a:prstGeom prst="rect">
            <a:avLst/>
          </a:prstGeom>
          <a:solidFill>
            <a:srgbClr val="C8973B"/>
          </a:solidFill>
          <a:ln w="12700">
            <a:solidFill>
              <a:srgbClr val="C897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79552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preditivos regulados — especialmente a Kalshi — representam uma nova fronteira para a mensuração de expectativas macroeconômicas, complementando e em alguns casos superando ferramentas estabelecidas.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" cy="384048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preditiva comparável a surveys profissionais; melhoria significativa sobre fed funds futures (moda com erro zero) e CPI headline vs. Bloomberg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9224" y="2029968"/>
            <a:ext cx="0" cy="256032"/>
          </a:xfrm>
          <a:prstGeom prst="line">
            <a:avLst/>
          </a:prstGeom>
          <a:noFill/>
          <a:ln w="12700">
            <a:solidFill>
              <a:srgbClr val="3A5C8A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384048" cy="384048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340864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fonte de distribuições de mercado para PIB, Core CPI e Desemprego, e a única opção financeira ativa para fed funds rate por reunião específica do FOMC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" y="2743200"/>
            <a:ext cx="0" cy="256032"/>
          </a:xfrm>
          <a:prstGeom prst="line">
            <a:avLst/>
          </a:prstGeom>
          <a:noFill/>
          <a:ln w="12700">
            <a:solidFill>
              <a:srgbClr val="3A5C8A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54096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assimétrica a CPI (4× maior para surpresas positivas) e efeito da coletiva do FOMC na assimetria — padrões impossíveis de detectar com instrumentos tradicionais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" y="3456432"/>
            <a:ext cx="0" cy="256032"/>
          </a:xfrm>
          <a:prstGeom prst="line">
            <a:avLst/>
          </a:prstGeom>
          <a:noFill/>
          <a:ln w="12700">
            <a:solidFill>
              <a:srgbClr val="3A5C8A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384048" cy="384048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76732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diários serão disponibilizados via EconFutures.com e GitHub, facilitando adoção por pesquisadores e formuladores de política em tempo real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46451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&amp; Discussão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EconFutures.com  ·  FEDS 2026-010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5325</Words>
  <Application>Microsoft Office PowerPoint</Application>
  <PresentationFormat>Apresentação na tela (16:9)</PresentationFormat>
  <Paragraphs>264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Kalshi and the Rise of Macro Markets</dc:title>
  <dc:subject>PptxGenJS Presentation</dc:subject>
  <dc:creator>Diercks, Katz &amp; Wright (2026)</dc:creator>
  <cp:lastModifiedBy>User</cp:lastModifiedBy>
  <cp:revision>2</cp:revision>
  <dcterms:created xsi:type="dcterms:W3CDTF">2026-04-17T03:21:25Z</dcterms:created>
  <dcterms:modified xsi:type="dcterms:W3CDTF">2026-04-23T11:26:43Z</dcterms:modified>
</cp:coreProperties>
</file>